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Helvetica Neue"/>
              </a:rPr>
              <a:t>Agentic AI: From Chatbot to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Helvetica Neue"/>
              </a:rPr>
              <a:t>A 50-minute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What did you just see?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[show terminal output from opening demo]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The Chatbot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You are the agent. The LLM reacts.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1481328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7CE8A0"/>
                </a:solidFill>
                <a:latin typeface="Courier New"/>
              </a:rPr>
              <a:t>[ You ] ──── question ────► [ LLM ]
[ You ] ◄─── answer ──────  [ LLM ]
[ You ] ──── question ────► [ LLM ]
[ You ] ◄─── answer ──────  [ LLM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The Agent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3529584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32552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7CE8A0"/>
                </a:solidFill>
                <a:latin typeface="Courier New"/>
              </a:rPr>
              <a:t>PERCEIVE
    (task + context)
           │
           ▼
        REASON          ◄───┐
     (LLM decides)          │
           │                │
           ▼                │
          ACT           OBSERVE
     (tool call)    (tool result back)
           │                │
           └────────────────┘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The LLM is a reasoning step, not a runtime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AAAA"/>
                </a:solidFill>
                <a:latin typeface="Helvetica Neue"/>
              </a:rPr>
              <a:t>The intern never touched the keyboard.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CE8A0"/>
                </a:solidFill>
                <a:latin typeface="Helvetica Neue"/>
              </a:rPr>
              <a:t>Smart Intern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Reads the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Writes "please search X"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Reads the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89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Writes "save this summary"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Writes "done"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CE8A0"/>
                </a:solidFill>
                <a:latin typeface="Helvetica Neue"/>
              </a:rPr>
              <a:t>Your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7432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Sends the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Runs the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40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Returns the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389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Saves the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937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AAAA"/>
                </a:solidFill>
                <a:latin typeface="Helvetica Neue"/>
              </a:rPr>
              <a:t>Stops the loop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Three properties of an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CE8A0"/>
                </a:solidFill>
                <a:latin typeface="Helvetica Neue"/>
              </a:rPr>
              <a:t>AUTONOMY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AAAAAA"/>
                </a:solidFill>
                <a:latin typeface="Helvetica Neue"/>
              </a:rPr>
              <a:t>completes sub-tasks without step-by-step direction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2560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CE8A0"/>
                </a:solidFill>
                <a:latin typeface="Helvetica Neue"/>
              </a:rPr>
              <a:t>TOOL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34747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AAAAAA"/>
                </a:solidFill>
                <a:latin typeface="Helvetica Neue"/>
              </a:rPr>
              <a:t>can reach outside the model — search, write, call APIs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5603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7CE8A0"/>
                </a:solidFill>
                <a:latin typeface="Helvetica Neue"/>
              </a:rPr>
              <a:t>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347472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AAAAAA"/>
                </a:solidFill>
                <a:latin typeface="Helvetica Neue"/>
              </a:rPr>
              <a:t>carries context across multiple reasoning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Why is this possible now?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Before (2022): parse free text and hope.
After (2023+): structured JSON — reliable, parseable, automatable.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713232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7CE8A0"/>
                </a:solidFill>
                <a:latin typeface="Courier New"/>
              </a:rPr>
              <a:t>{ "tool": "search_web", "query": "agentic AI"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Demo 1: The Reasoning Illusion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Can Claude complete a multi-step task... without tools?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Reasoning ≠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Very smart autocomplete. Nothing more.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1993392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1719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7CE8A0"/>
                </a:solidFill>
                <a:latin typeface="Courier New"/>
              </a:rPr>
              <a:t>[✓] Reasoned about the task
[✓] Generated a plan
[✓] Wrote 'search results' (hallucinated)
[✗] Searched anything
[✗] Saved any file
[✗] Completed the task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Demo 2: Giving the Model Hands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What happens when Claude knows it has tools?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1993392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1719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7CE8A0"/>
                </a:solidFill>
                <a:latin typeface="Courier New"/>
              </a:rPr>
              <a:t>You have access to these tools:
- search_web(query: str)
- save_note(text: str, filename: str)
When you want to use a tool, respond with:
TOOL_CALL: tool_name(arg1, arg2)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Tool use is structured conversation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You just played the role of agent.py.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1993392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1719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7CE8A0"/>
                </a:solidFill>
                <a:latin typeface="Courier New"/>
              </a:rPr>
              <a:t>You:     "Research agentic AI and save a summary."
Claude:  TOOL_CALL: search_web("agentic AI definition")
You:     [result: "Agentic AI refers to..."]
Claude:  TOOL_CALL: save_note("• Point 1...", "summary.txt")
You:     [result: "Saved to notes/summary.txt"]
Claude:  "Done. Summary saved."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Demo 3: The Full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Now the code plays the role you just played.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713232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7CE8A0"/>
                </a:solidFill>
                <a:latin typeface="Courier New"/>
              </a:rPr>
              <a:t>python agent.py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The Tool Menu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The description is read by the model, not the computer.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2761488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2487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7CE8A0"/>
                </a:solidFill>
                <a:latin typeface="Courier New"/>
              </a:rPr>
              <a:t>TOOLS = [{
    "name": "search_web",
    "description": "Search DuckDuckGo and return a summary.",
    "input_schema": {
        "properties": {
            "query": {"type": "string"}
        }
    }
}]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The Whole Agent — 15 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Everything else is plumbing.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2761488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2487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7CE8A0"/>
                </a:solidFill>
                <a:latin typeface="Courier New"/>
              </a:rPr>
              <a:t>while iteration &lt; MAX_ITERATIONS:
    response = client.messages.create(
        model=MODEL, tools=TOOLS, messages=messages
    )
    if response.stop_reason == 'end_turn':
        break
    if response.stop_reason == 'tool_use':
        result = execute_tool(tool_call)
        messages.append(tool_result)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One agent is just the 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Specialists. Parallelism. One agent checks another.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1481328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12070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7CE8A0"/>
                </a:solidFill>
                <a:latin typeface="Courier New"/>
              </a:rPr>
              <a:t>[Orchestrator]
        /       |       \
[Research]  [Critic]  [Writer]
   agent      agent     agent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Three things to watch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The loop is the same. The tools get more powerful.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1225296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9509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7CE8A0"/>
                </a:solidFill>
                <a:latin typeface="Courier New"/>
              </a:rPr>
              <a:t>⏳  Long-horizon tasks — agents that run for hours
🖥️  Computer use — agents that control a browser or desktop
🤝  Agent-to-agent protocols — agents from different companies collaborating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Your turn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Running in under 10 minutes.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77440"/>
            <a:ext cx="10881360" cy="1993392"/>
          </a:xfrm>
          <a:prstGeom prst="rect">
            <a:avLst/>
          </a:prstGeom>
          <a:solidFill>
            <a:srgbClr val="1E1E1E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15600" cy="1719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7CE8A0"/>
                </a:solidFill>
                <a:latin typeface="Courier New"/>
              </a:rPr>
              <a:t>git clone [repo URL]
cd repo
pip install anthropic python-dotenv requests
cp .env.example .env
# Add your API key
python agent.py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Helvetica Neue"/>
              </a:rP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10881360" cy="36576"/>
          </a:xfrm>
          <a:prstGeom prst="rect">
            <a:avLst/>
          </a:prstGeom>
          <a:solidFill>
            <a:srgbClr val="7CE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AAAAA"/>
                </a:solidFill>
                <a:latin typeface="Helvetica Neue"/>
              </a:rPr>
              <a:t>• What task would you want to automate with an agent?
• What could go wrong if an agent had too many powerful tools?
• How would you test an agent?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